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57" r:id="rId5"/>
    <p:sldId id="259" r:id="rId6"/>
    <p:sldId id="260" r:id="rId7"/>
    <p:sldId id="258" r:id="rId8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82" r:id="rId16"/>
    <p:sldId id="285" r:id="rId17"/>
    <p:sldId id="286" r:id="rId18"/>
    <p:sldId id="269" r:id="rId19"/>
  </p:sldIdLst>
  <p:sldSz cx="12191365" cy="6858000"/>
  <p:notesSz cx="6857365" cy="9143365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 snapToObjects="1" showGuides="1">
      <p:cViewPr varScale="1">
        <p:scale>
          <a:sx n="84" d="100"/>
          <a:sy n="84" d="100"/>
        </p:scale>
        <p:origin x="0" y="0"/>
      </p:cViewPr>
      <p:guideLst>
        <p:guide orient="horz" pos="224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6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l"/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8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</a:fld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</a:fld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</a:fld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nalini200878@gmail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>
            <a:off x="756920" y="434340"/>
            <a:ext cx="11676380" cy="4945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en-US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</a:br>
            <a:br>
              <a:rPr lang="en-US" altLang="en-US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</a:br>
            <a:r>
              <a:rPr lang="en-US" altLang="en-US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A3-PS026-TC166</a:t>
            </a:r>
            <a:b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</a:b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AT URI Syntax Compatibility and Round-Trip Validator</a:t>
            </a:r>
            <a:b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</a:br>
            <a:b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</a:b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  <a:hlinkClick r:id="rId1"/>
              </a:rPr>
              <a:t>nalini200878@gmail.com</a:t>
            </a:r>
            <a:b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</a:b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AIORI HACKATHON 3</a:t>
            </a:r>
            <a:b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</a:b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October 13,2026</a:t>
            </a:r>
            <a:b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</a:br>
            <a:endParaRPr lang="en-US" altLang="zh-CN" sz="44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2"/>
          <p:cNvSpPr txBox="1"/>
          <p:nvPr/>
        </p:nvSpPr>
        <p:spPr>
          <a:xfrm>
            <a:off x="3543299" y="1856232"/>
            <a:ext cx="219456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PARSE URI</a:t>
            </a:r>
            <a:endParaRPr sz="13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2"/>
          <p:cNvSpPr txBox="1"/>
          <p:nvPr/>
        </p:nvSpPr>
        <p:spPr>
          <a:xfrm>
            <a:off x="3773805" y="1514475"/>
            <a:ext cx="219456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PARSE URI</a:t>
            </a:r>
            <a:endParaRPr sz="13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42764" y="1124585"/>
            <a:ext cx="23774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"/>
          <p:cNvSpPr txBox="1"/>
          <p:nvPr/>
        </p:nvSpPr>
        <p:spPr>
          <a:xfrm>
            <a:off x="4434204" y="1197737"/>
            <a:ext cx="219456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PARSE URI</a:t>
            </a:r>
            <a:endParaRPr sz="13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65725" y="2176145"/>
            <a:ext cx="22860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4"/>
          <p:cNvSpPr txBox="1"/>
          <p:nvPr/>
        </p:nvSpPr>
        <p:spPr>
          <a:xfrm>
            <a:off x="5257165" y="2249297"/>
            <a:ext cx="21031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RESOLVE IDENTITY</a:t>
            </a:r>
            <a:endParaRPr sz="13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159885" y="3227705"/>
            <a:ext cx="2560320" cy="5943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6"/>
          <p:cNvSpPr txBox="1"/>
          <p:nvPr/>
        </p:nvSpPr>
        <p:spPr>
          <a:xfrm>
            <a:off x="4251325" y="3300857"/>
            <a:ext cx="2377439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FETCH RECORD</a:t>
            </a:r>
            <a:endParaRPr sz="13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74285" y="4279265"/>
            <a:ext cx="2377440" cy="59436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8"/>
          <p:cNvSpPr txBox="1"/>
          <p:nvPr/>
        </p:nvSpPr>
        <p:spPr>
          <a:xfrm>
            <a:off x="5165725" y="4352417"/>
            <a:ext cx="219456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ROUND-TRIP CHECK</a:t>
            </a:r>
            <a:endParaRPr sz="13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33" name="Connector 9"/>
          <p:cNvCxnSpPr/>
          <p:nvPr/>
        </p:nvCxnSpPr>
        <p:spPr>
          <a:xfrm>
            <a:off x="5531485" y="1746377"/>
            <a:ext cx="548640" cy="41148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0"/>
          <p:cNvCxnSpPr/>
          <p:nvPr/>
        </p:nvCxnSpPr>
        <p:spPr>
          <a:xfrm flipH="1">
            <a:off x="5531485" y="2797937"/>
            <a:ext cx="548640" cy="41148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1"/>
          <p:cNvCxnSpPr/>
          <p:nvPr/>
        </p:nvCxnSpPr>
        <p:spPr>
          <a:xfrm>
            <a:off x="5531485" y="3849497"/>
            <a:ext cx="640080" cy="411479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22960" y="5403850"/>
            <a:ext cx="1051560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defRPr sz="2000">
                <a:solidFill>
                  <a:srgbClr val="162440"/>
                </a:solidFill>
                <a:latin typeface="Consolas" panose="020B0609020204030204"/>
              </a:defRPr>
            </a:pPr>
            <a:r>
              <a:t>Parse  →  Resolve  →  Validate  →  Retrieve  →  Rebuild  → 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08329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  Introduction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132820" cy="45262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AT Protocol is an open protocol designed for building social applications.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It provides common rules for identity, data, and communication.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Our project focuses on making AT URI handling more compatible and reliable.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cs typeface="Lucida Sans" panose="020B0602030504020204"/>
                <a:sym typeface="+mn-ea"/>
              </a:rPr>
              <a:t>AT Protocol stands for Authenticated Transfer Protocol.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2800">
                <a:cs typeface="Lucida Sans" panose="020B0602030504020204"/>
                <a:sym typeface="+mn-ea"/>
              </a:rPr>
              <a:t>It is a set of rules that allows applications and services to work with shared protocol data.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706755" y="274955"/>
            <a:ext cx="1063371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Why Do We Use AT Protocol?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4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066780" cy="45262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To reduce dependence on one application or platform.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To support interoperability between compatible applications.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To provide portable identity and data.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To allow developers to build different applications on the same protocol 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cs typeface="Lucida Sans" panose="020B0602030504020204"/>
                <a:sym typeface="+mn-ea"/>
              </a:rPr>
              <a:t>Shared protocol-based data structures</a:t>
            </a:r>
            <a:endParaRPr lang="zh-CN" altLang="en-US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"/>
          <p:cNvSpPr>
            <a:spLocks noGrp="1"/>
          </p:cNvSpPr>
          <p:nvPr>
            <p:ph type="title"/>
          </p:nvPr>
        </p:nvSpPr>
        <p:spPr>
          <a:xfrm>
            <a:off x="457200" y="274955"/>
            <a:ext cx="1046226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How Does AT Protocol Work?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000740" cy="45262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A user has an identity represented by a DID.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User records are stored in a repository.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The AT Protocol network distributes and serves these records.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Different applications can use compatible records and present them in their own way.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cs typeface="Lucida Sans" panose="020B0602030504020204"/>
                <a:sym typeface="+mn-ea"/>
              </a:rPr>
              <a:t>Bluesky is a major social application built on AT Protocol.</a:t>
            </a:r>
            <a:endParaRPr lang="en-US" altLang="zh-CN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"/>
          <p:cNvSpPr>
            <a:spLocks noGrp="1"/>
          </p:cNvSpPr>
          <p:nvPr>
            <p:ph type="title"/>
          </p:nvPr>
        </p:nvSpPr>
        <p:spPr>
          <a:xfrm>
            <a:off x="457200" y="274955"/>
            <a:ext cx="109093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AT Protocol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0899775" cy="45262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337560" cy="1554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9504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Scheme + authority</a:t>
            </a:r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2990088" cy="8961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ptos"/>
              </a:rPr>
              <a:t>at://did:plc:example123
Protocol + repository identity</a:t>
            </a:r>
            <a:endParaRPr sz="130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337560" cy="15544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889504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Collection</a:t>
            </a:r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3310128"/>
            <a:ext cx="2990088" cy="8961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ptos"/>
              </a:rPr>
              <a:t>app.bsky.feed.post
Record type / collection NSID</a:t>
            </a:r>
            <a:endParaRPr sz="130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38160" y="2852928"/>
            <a:ext cx="64008" cy="13350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8992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defRPr sz="1800">
                <a:solidFill>
                  <a:srgbClr val="162440"/>
                </a:solidFill>
                <a:latin typeface="Consolas" panose="020B0609020204030204"/>
              </a:defRPr>
            </a:pPr>
            <a:r>
              <a:t>at://did:plc:example123/app.bsky.feed.post/abc123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743200"/>
            <a:ext cx="3337560" cy="1554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89504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Record key</a:t>
            </a:r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3310128"/>
            <a:ext cx="2990088" cy="8961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ptos"/>
              </a:rPr>
              <a:t>abc123
Identifies one record in the collection</a:t>
            </a:r>
            <a:endParaRPr sz="130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0" name="TextBox 18"/>
          <p:cNvSpPr txBox="1"/>
          <p:nvPr/>
        </p:nvSpPr>
        <p:spPr>
          <a:xfrm>
            <a:off x="822960" y="4800600"/>
            <a:ext cx="1051560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ptos"/>
              </a:rPr>
              <a:t>Authority can be a DID or a handle. Collection and record key identify a specific record when both are present.</a:t>
            </a:r>
            <a:endParaRPr sz="1500" b="0" i="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Problem Description-PS-026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0633710" cy="4526280"/>
          </a:xfrm>
        </p:spPr>
        <p:txBody>
          <a:bodyPr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cs typeface="Lucida Sans" panose="020B0602030504020204"/>
                <a:sym typeface="+mn-ea"/>
              </a:rPr>
              <a:t>AT URI Syntax Compatibility and Round-Trip Validator</a:t>
            </a:r>
            <a:endParaRPr lang="en-US" altLang="zh-CN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cs typeface="Lucida Sans" panose="020B0602030504020204"/>
                <a:sym typeface="+mn-ea"/>
              </a:rPr>
              <a:t>We need to validate AT URI syntax and structure.</a:t>
            </a:r>
            <a:endParaRPr lang="en-US" altLang="zh-CN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cs typeface="Lucida Sans" panose="020B0602030504020204"/>
                <a:sym typeface="+mn-ea"/>
              </a:rPr>
              <a:t>We need to map AT URIs to HTTP/HTTPS gateway representations.</a:t>
            </a:r>
            <a:endParaRPr lang="en-US" altLang="zh-CN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cs typeface="Lucida Sans" panose="020B0602030504020204"/>
                <a:sym typeface="+mn-ea"/>
              </a:rPr>
              <a:t>We need to verify that conversion back preserves the required information.</a:t>
            </a:r>
            <a:endParaRPr lang="zh-CN" altLang="en-US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Goal and Core Ideas 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093450" cy="4526280"/>
          </a:xfrm>
        </p:spPr>
        <p:txBody>
          <a:bodyPr/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64008" cy="16093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62440"/>
                </a:solidFill>
                <a:latin typeface="Aptos"/>
              </a:rPr>
              <a:t>Input correctness</a:t>
            </a:r>
            <a:endParaRPr sz="17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081528" cy="11704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ptos"/>
              </a:rPr>
              <a:t>Is the URI structurally valid?
Does it use the expected at:// scheme?</a:t>
            </a:r>
            <a:endParaRPr sz="135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01368"/>
            <a:ext cx="64008" cy="160934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379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62440"/>
                </a:solidFill>
                <a:latin typeface="Aptos"/>
              </a:rPr>
              <a:t>Resource resolution</a:t>
            </a:r>
            <a:endParaRPr sz="17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2258568"/>
            <a:ext cx="3081528" cy="11704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ptos"/>
              </a:rPr>
              <a:t>Can a handle be resolved to a DID?
Can the intended record be retrieved?</a:t>
            </a:r>
            <a:endParaRPr sz="135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828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01368"/>
            <a:ext cx="64008" cy="16093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379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62440"/>
                </a:solidFill>
                <a:latin typeface="Aptos"/>
              </a:rPr>
              <a:t>Round-trip fidelity</a:t>
            </a:r>
            <a:endParaRPr sz="17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19" y="2258568"/>
            <a:ext cx="3081528" cy="11704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ptos"/>
              </a:rPr>
              <a:t>Can the system rebuild the URI from record metadata?
Does it match the original?</a:t>
            </a:r>
            <a:endParaRPr sz="135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7690" y="4525010"/>
            <a:ext cx="10241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ptos"/>
              </a:rPr>
              <a:t>A URI may be syntactically valid even if its record is unavailable or its metadata cannot reproduce the original string.</a:t>
            </a:r>
            <a:endParaRPr sz="1300" b="0" i="0">
              <a:solidFill>
                <a:srgbClr val="4B556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1"/>
          <p:cNvSpPr txBox="1"/>
          <p:nvPr/>
        </p:nvSpPr>
        <p:spPr>
          <a:xfrm>
            <a:off x="594360" y="320040"/>
            <a:ext cx="10972800" cy="5632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lang="en-US" sz="2800" b="1" i="0">
                <a:solidFill>
                  <a:srgbClr val="162440"/>
                </a:solidFill>
                <a:latin typeface="Aptos"/>
              </a:rPr>
              <a:t>FLOWCHART</a:t>
            </a:r>
            <a:endParaRPr lang="en-US" sz="28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49039" y="1572768"/>
            <a:ext cx="4709160" cy="43891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6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3858768" y="1604772"/>
            <a:ext cx="448970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162440"/>
                </a:solidFill>
                <a:latin typeface="Aptos"/>
              </a:rPr>
              <a:t>START / INPUT</a:t>
            </a:r>
            <a:endParaRPr sz="11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858768" y="1773936"/>
            <a:ext cx="44897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Aptos"/>
              </a:rPr>
              <a:t>User submits a string</a:t>
            </a:r>
            <a:endParaRPr sz="1000" b="0" i="0">
              <a:solidFill>
                <a:srgbClr val="1F2937"/>
              </a:solidFill>
              <a:latin typeface="Aptos"/>
            </a:endParaRPr>
          </a:p>
        </p:txBody>
      </p:sp>
      <p:cxnSp>
        <p:nvCxnSpPr>
          <p:cNvPr id="10" name="Connector 8"/>
          <p:cNvCxnSpPr/>
          <p:nvPr/>
        </p:nvCxnSpPr>
        <p:spPr>
          <a:xfrm>
            <a:off x="6103620" y="2011680"/>
            <a:ext cx="0" cy="128016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2139696"/>
            <a:ext cx="4709160" cy="438912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0"/>
          <p:cNvSpPr txBox="1"/>
          <p:nvPr/>
        </p:nvSpPr>
        <p:spPr>
          <a:xfrm>
            <a:off x="3858768" y="2171700"/>
            <a:ext cx="448970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CA8A04"/>
                </a:solidFill>
                <a:latin typeface="Aptos"/>
              </a:rPr>
              <a:t>SCHEME CHECK</a:t>
            </a:r>
            <a:endParaRPr sz="1100" b="1" i="0">
              <a:solidFill>
                <a:srgbClr val="CA8A04"/>
              </a:solidFill>
              <a:latin typeface="Aptos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3858768" y="2340864"/>
            <a:ext cx="44897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Aptos"/>
              </a:rPr>
              <a:t>Does it start with at://?</a:t>
            </a:r>
            <a:endParaRPr sz="1000" b="0" i="0">
              <a:solidFill>
                <a:srgbClr val="1F2937"/>
              </a:solidFill>
              <a:latin typeface="Aptos"/>
            </a:endParaRPr>
          </a:p>
        </p:txBody>
      </p:sp>
      <p:cxnSp>
        <p:nvCxnSpPr>
          <p:cNvPr id="14" name="Connector 12"/>
          <p:cNvCxnSpPr/>
          <p:nvPr/>
        </p:nvCxnSpPr>
        <p:spPr>
          <a:xfrm>
            <a:off x="6103620" y="2578608"/>
            <a:ext cx="0" cy="128016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49039" y="2706624"/>
            <a:ext cx="4709160" cy="4389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4"/>
          <p:cNvSpPr txBox="1"/>
          <p:nvPr/>
        </p:nvSpPr>
        <p:spPr>
          <a:xfrm>
            <a:off x="3858768" y="2738628"/>
            <a:ext cx="448970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Aptos"/>
              </a:rPr>
              <a:t>PARSER</a:t>
            </a:r>
            <a:endParaRPr sz="1100" b="1" i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3858768" y="2907792"/>
            <a:ext cx="44897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Aptos"/>
              </a:rPr>
              <a:t>Extract authority, collection, record key</a:t>
            </a:r>
            <a:endParaRPr sz="1000" b="0" i="0">
              <a:solidFill>
                <a:srgbClr val="1F2937"/>
              </a:solidFill>
              <a:latin typeface="Aptos"/>
            </a:endParaRPr>
          </a:p>
        </p:txBody>
      </p:sp>
      <p:cxnSp>
        <p:nvCxnSpPr>
          <p:cNvPr id="18" name="Connector 16"/>
          <p:cNvCxnSpPr/>
          <p:nvPr/>
        </p:nvCxnSpPr>
        <p:spPr>
          <a:xfrm>
            <a:off x="6103620" y="3145536"/>
            <a:ext cx="0" cy="128016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49039" y="3273552"/>
            <a:ext cx="4709160" cy="438912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3858768" y="3305556"/>
            <a:ext cx="448970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CA8A04"/>
                </a:solidFill>
                <a:latin typeface="Aptos"/>
              </a:rPr>
              <a:t>AUTHORITY CHECK</a:t>
            </a:r>
            <a:endParaRPr sz="1100" b="1" i="0">
              <a:solidFill>
                <a:srgbClr val="CA8A04"/>
              </a:solidFill>
              <a:latin typeface="Aptos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3858768" y="3474720"/>
            <a:ext cx="44897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Aptos"/>
              </a:rPr>
              <a:t>DID → validate | Handle → resolve</a:t>
            </a:r>
            <a:endParaRPr sz="1000" b="0" i="0">
              <a:solidFill>
                <a:srgbClr val="1F2937"/>
              </a:solidFill>
              <a:latin typeface="Aptos"/>
            </a:endParaRPr>
          </a:p>
        </p:txBody>
      </p:sp>
      <p:cxnSp>
        <p:nvCxnSpPr>
          <p:cNvPr id="22" name="Connector 20"/>
          <p:cNvCxnSpPr/>
          <p:nvPr/>
        </p:nvCxnSpPr>
        <p:spPr>
          <a:xfrm>
            <a:off x="6103620" y="3712464"/>
            <a:ext cx="0" cy="128016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49039" y="3840480"/>
            <a:ext cx="4709160" cy="4389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2"/>
          <p:cNvSpPr txBox="1"/>
          <p:nvPr/>
        </p:nvSpPr>
        <p:spPr>
          <a:xfrm>
            <a:off x="3858768" y="3872484"/>
            <a:ext cx="448970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Aptos"/>
              </a:rPr>
              <a:t>STRICT VALIDATION</a:t>
            </a:r>
            <a:endParaRPr sz="1100" b="1" i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25" name="TextBox 23"/>
          <p:cNvSpPr txBox="1"/>
          <p:nvPr/>
        </p:nvSpPr>
        <p:spPr>
          <a:xfrm>
            <a:off x="3858768" y="4041648"/>
            <a:ext cx="44897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Aptos"/>
              </a:rPr>
              <a:t>Check syntax and URI constraints</a:t>
            </a:r>
            <a:endParaRPr sz="1000" b="0" i="0">
              <a:solidFill>
                <a:srgbClr val="1F2937"/>
              </a:solidFill>
              <a:latin typeface="Aptos"/>
            </a:endParaRPr>
          </a:p>
        </p:txBody>
      </p:sp>
      <p:cxnSp>
        <p:nvCxnSpPr>
          <p:cNvPr id="26" name="Connector 24"/>
          <p:cNvCxnSpPr/>
          <p:nvPr/>
        </p:nvCxnSpPr>
        <p:spPr>
          <a:xfrm>
            <a:off x="6103620" y="4279392"/>
            <a:ext cx="0" cy="128016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49039" y="4407408"/>
            <a:ext cx="4709160" cy="4389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6"/>
          <p:cNvSpPr txBox="1"/>
          <p:nvPr/>
        </p:nvSpPr>
        <p:spPr>
          <a:xfrm>
            <a:off x="3858768" y="4439412"/>
            <a:ext cx="448970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Aptos"/>
              </a:rPr>
              <a:t>GATEWAY + FETCH</a:t>
            </a:r>
            <a:endParaRPr sz="1100" b="1" i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29" name="TextBox 27"/>
          <p:cNvSpPr txBox="1"/>
          <p:nvPr/>
        </p:nvSpPr>
        <p:spPr>
          <a:xfrm>
            <a:off x="3858768" y="4608576"/>
            <a:ext cx="44897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Aptos"/>
              </a:rPr>
              <a:t>Map to HTTP endpoint; retrieve JSON</a:t>
            </a:r>
            <a:endParaRPr sz="1000" b="0" i="0">
              <a:solidFill>
                <a:srgbClr val="1F2937"/>
              </a:solidFill>
              <a:latin typeface="Aptos"/>
            </a:endParaRPr>
          </a:p>
        </p:txBody>
      </p:sp>
      <p:cxnSp>
        <p:nvCxnSpPr>
          <p:cNvPr id="30" name="Connector 28"/>
          <p:cNvCxnSpPr/>
          <p:nvPr/>
        </p:nvCxnSpPr>
        <p:spPr>
          <a:xfrm>
            <a:off x="6103620" y="4846320"/>
            <a:ext cx="0" cy="128016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49039" y="4974336"/>
            <a:ext cx="4709160" cy="4389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0"/>
          <p:cNvSpPr txBox="1"/>
          <p:nvPr/>
        </p:nvSpPr>
        <p:spPr>
          <a:xfrm>
            <a:off x="3858768" y="5006340"/>
            <a:ext cx="448970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Aptos"/>
              </a:rPr>
              <a:t>REBUILD + COMPARE</a:t>
            </a:r>
            <a:endParaRPr sz="1100" b="1" i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33" name="TextBox 31"/>
          <p:cNvSpPr txBox="1"/>
          <p:nvPr/>
        </p:nvSpPr>
        <p:spPr>
          <a:xfrm>
            <a:off x="3858768" y="5175503"/>
            <a:ext cx="44897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Aptos"/>
              </a:rPr>
              <a:t>Reconstruct AT URI; compare strings</a:t>
            </a:r>
            <a:endParaRPr sz="1000" b="0" i="0">
              <a:solidFill>
                <a:srgbClr val="1F2937"/>
              </a:solidFill>
              <a:latin typeface="Aptos"/>
            </a:endParaRPr>
          </a:p>
        </p:txBody>
      </p:sp>
      <p:cxnSp>
        <p:nvCxnSpPr>
          <p:cNvPr id="34" name="Connector 32"/>
          <p:cNvCxnSpPr/>
          <p:nvPr/>
        </p:nvCxnSpPr>
        <p:spPr>
          <a:xfrm>
            <a:off x="6103620" y="5413248"/>
            <a:ext cx="0" cy="128016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749039" y="5541264"/>
            <a:ext cx="4709160" cy="43891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4"/>
          <p:cNvSpPr txBox="1"/>
          <p:nvPr/>
        </p:nvSpPr>
        <p:spPr>
          <a:xfrm>
            <a:off x="3858768" y="5573268"/>
            <a:ext cx="448970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Aptos"/>
              </a:rPr>
              <a:t>RESULT</a:t>
            </a:r>
            <a:endParaRPr sz="1100" b="1" i="0">
              <a:solidFill>
                <a:srgbClr val="16A34A"/>
              </a:solidFill>
              <a:latin typeface="Aptos"/>
            </a:endParaRPr>
          </a:p>
        </p:txBody>
      </p:sp>
      <p:sp>
        <p:nvSpPr>
          <p:cNvPr id="37" name="TextBox 35"/>
          <p:cNvSpPr txBox="1"/>
          <p:nvPr/>
        </p:nvSpPr>
        <p:spPr>
          <a:xfrm>
            <a:off x="3858768" y="5742431"/>
            <a:ext cx="44897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Aptos"/>
              </a:rPr>
              <a:t>Valid / mismatch / earlier error</a:t>
            </a:r>
            <a:endParaRPr sz="100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94360" y="1828800"/>
            <a:ext cx="2514600" cy="13258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1938528"/>
            <a:ext cx="64008" cy="11064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8"/>
          <p:cNvSpPr txBox="1"/>
          <p:nvPr/>
        </p:nvSpPr>
        <p:spPr>
          <a:xfrm>
            <a:off x="777240" y="1975104"/>
            <a:ext cx="21945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62440"/>
                </a:solidFill>
                <a:latin typeface="Aptos"/>
              </a:rPr>
              <a:t>Scheme = NO</a:t>
            </a:r>
            <a:endParaRPr sz="14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41" name="TextBox 39"/>
          <p:cNvSpPr txBox="1"/>
          <p:nvPr/>
        </p:nvSpPr>
        <p:spPr>
          <a:xfrm>
            <a:off x="777240" y="2395728"/>
            <a:ext cx="2167128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ptos"/>
              </a:rPr>
              <a:t>Missing-schema failure
→ EXIT</a:t>
            </a:r>
            <a:endParaRPr sz="120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40080" y="3596640"/>
            <a:ext cx="2514600" cy="13258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" y="3706368"/>
            <a:ext cx="64008" cy="11064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42"/>
          <p:cNvSpPr txBox="1"/>
          <p:nvPr/>
        </p:nvSpPr>
        <p:spPr>
          <a:xfrm>
            <a:off x="822959" y="3742944"/>
            <a:ext cx="21945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62440"/>
                </a:solidFill>
                <a:latin typeface="Aptos"/>
              </a:rPr>
              <a:t>Handle resolution = NO</a:t>
            </a:r>
            <a:endParaRPr sz="14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63" name="TextBox 43"/>
          <p:cNvSpPr txBox="1"/>
          <p:nvPr/>
        </p:nvSpPr>
        <p:spPr>
          <a:xfrm>
            <a:off x="822959" y="4163568"/>
            <a:ext cx="2167128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ptos"/>
              </a:rPr>
              <a:t>Invalid AT URI error
→ DONE</a:t>
            </a:r>
            <a:endParaRPr sz="1200" b="0" i="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0593705" cy="1143000"/>
          </a:xfrm>
        </p:spPr>
        <p:txBody>
          <a:bodyPr/>
          <a:p>
            <a:r>
              <a:rPr lang="en-US" sz="3200" b="1">
                <a:solidFill>
                  <a:srgbClr val="162440"/>
                </a:solidFill>
                <a:latin typeface="Aptos"/>
                <a:sym typeface="+mn-ea"/>
              </a:rPr>
              <a:t>S</a:t>
            </a:r>
            <a:r>
              <a:rPr sz="3200" b="1">
                <a:solidFill>
                  <a:srgbClr val="162440"/>
                </a:solidFill>
                <a:latin typeface="Aptos"/>
                <a:sym typeface="+mn-ea"/>
              </a:rPr>
              <a:t>teps 1–2: Scheme Check and Parsing</a:t>
            </a:r>
            <a:endParaRPr lang="en-US" sz="3200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12080" cy="1554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64008" cy="13350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4892040" cy="13398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Pass example</a:t>
            </a:r>
            <a:endParaRPr sz="16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600">
                <a:solidFill>
                  <a:srgbClr val="1F2937"/>
                </a:solidFill>
                <a:latin typeface="Aptos"/>
                <a:sym typeface="+mn-ea"/>
              </a:rPr>
              <a:t>at://alice.example.com/app.bsky.feed.post/abc123
Output: scheme accepted; continue to parser.</a:t>
            </a:r>
            <a:endParaRPr sz="16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1554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01368"/>
            <a:ext cx="64008" cy="13350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37944"/>
            <a:ext cx="4892040" cy="13398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Fail example</a:t>
            </a:r>
            <a:endParaRPr sz="16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600">
                <a:solidFill>
                  <a:srgbClr val="1F2937"/>
                </a:solidFill>
                <a:latin typeface="Aptos"/>
                <a:sym typeface="+mn-ea"/>
              </a:rPr>
              <a:t>alice.example.com/app.bsky.feed.post/abc123
Output: “Missing Schema” → EXIT.</a:t>
            </a:r>
            <a:endParaRPr sz="16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4572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62440"/>
                </a:solidFill>
                <a:latin typeface="Aptos"/>
              </a:rPr>
              <a:t>Parsed fields</a:t>
            </a:r>
            <a:endParaRPr sz="17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548640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defRPr sz="1300">
                <a:solidFill>
                  <a:srgbClr val="162440"/>
                </a:solidFill>
                <a:latin typeface="Consolas" panose="020B0609020204030204"/>
              </a:defRPr>
            </a:pPr>
            <a:r>
              <a:t>scheme: "at"</a:t>
            </a:r>
            <a:br/>
            <a:r>
              <a:t>authority: "alice.example.com"</a:t>
            </a:r>
            <a:br/>
            <a:r>
              <a:t>collection: "app.bsky.feed.post"</a:t>
            </a:r>
            <a:br/>
            <a:r>
              <a:t>recordKey: "abc123"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977639"/>
            <a:ext cx="45720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4087368"/>
            <a:ext cx="64008" cy="12893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123944"/>
            <a:ext cx="4251960" cy="126301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62440"/>
                </a:solidFill>
                <a:latin typeface="Aptos"/>
              </a:rPr>
              <a:t>Design note</a:t>
            </a:r>
            <a:endParaRPr sz="15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500">
                <a:solidFill>
                  <a:srgbClr val="1F2937"/>
                </a:solidFill>
                <a:latin typeface="Aptos"/>
                <a:sym typeface="+mn-ea"/>
              </a:rPr>
              <a:t>Prefix checking is preliminary. The parser must still detect missing components, malformed paths, and invalid encodings.</a:t>
            </a:r>
            <a:endParaRPr sz="15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500" b="1" i="0">
              <a:solidFill>
                <a:srgbClr val="1624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0881360" cy="1143000"/>
          </a:xfrm>
        </p:spPr>
        <p:txBody>
          <a:bodyPr/>
          <a:p>
            <a:r>
              <a:rPr sz="3200" b="1">
                <a:solidFill>
                  <a:srgbClr val="162440"/>
                </a:solidFill>
                <a:latin typeface="Aptos"/>
                <a:sym typeface="+mn-ea"/>
              </a:rPr>
              <a:t>Step 3: DID vs Handle Resolution</a:t>
            </a:r>
            <a:br>
              <a:rPr sz="3200" b="1">
                <a:solidFill>
                  <a:srgbClr val="162440"/>
                </a:solidFill>
                <a:latin typeface="Aptos"/>
                <a:sym typeface="+mn-ea"/>
              </a:rPr>
            </a:br>
            <a:r>
              <a:rPr lang="en-US" sz="2000">
                <a:solidFill>
                  <a:srgbClr val="4B5563"/>
                </a:solidFill>
                <a:latin typeface="Aptos"/>
                <a:sym typeface="+mn-ea"/>
              </a:rPr>
              <a:t>T</a:t>
            </a:r>
            <a:r>
              <a:rPr sz="2000">
                <a:solidFill>
                  <a:srgbClr val="4B5563"/>
                </a:solidFill>
                <a:latin typeface="Aptos"/>
                <a:sym typeface="+mn-ea"/>
              </a:rPr>
              <a:t>he authority type determines whether an additional identity lookup is required.</a:t>
            </a:r>
            <a:endParaRPr lang="en-US" sz="2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920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47088"/>
            <a:ext cx="64008" cy="17007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5035" y="1883410"/>
            <a:ext cx="4891405" cy="17951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l"/>
            <a:r>
              <a:rPr sz="1700" b="1" i="0">
                <a:solidFill>
                  <a:srgbClr val="162440"/>
                </a:solidFill>
                <a:latin typeface="Aptos"/>
              </a:rPr>
              <a:t>Raw DID branch</a:t>
            </a:r>
            <a:endParaRPr sz="1700" b="1" i="0">
              <a:solidFill>
                <a:srgbClr val="162440"/>
              </a:solidFill>
              <a:latin typeface="Aptos"/>
            </a:endParaRPr>
          </a:p>
          <a:p>
            <a:pPr algn="l"/>
            <a:endParaRPr sz="17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700">
                <a:solidFill>
                  <a:srgbClr val="1F2937"/>
                </a:solidFill>
                <a:latin typeface="Aptos"/>
                <a:sym typeface="+mn-ea"/>
              </a:rPr>
              <a:t>Example authority:
did:plc:example123
Action: bypass handle resolution and continue to strict validation.</a:t>
            </a:r>
            <a:endParaRPr sz="17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7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192024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47088"/>
            <a:ext cx="64008" cy="170078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4892040" cy="167830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62440"/>
                </a:solidFill>
                <a:latin typeface="Aptos"/>
              </a:rPr>
              <a:t>Handle branch</a:t>
            </a:r>
            <a:endParaRPr sz="17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700">
                <a:solidFill>
                  <a:srgbClr val="1F2937"/>
                </a:solidFill>
                <a:latin typeface="Aptos"/>
                <a:sym typeface="+mn-ea"/>
              </a:rPr>
              <a:t>Example authority:
alice.example.com
Action: resolve the handle to a DID, verify the mapping, then validate.</a:t>
            </a:r>
            <a:endParaRPr sz="17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700" b="1" i="0">
              <a:solidFill>
                <a:srgbClr val="16244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337560" y="3794760"/>
            <a:ext cx="1325880" cy="59436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543800" y="3794760"/>
            <a:ext cx="1280160" cy="594360"/>
          </a:xfrm>
          <a:prstGeom prst="line">
            <a:avLst/>
          </a:prstGeom>
          <a:ln w="25400">
            <a:solidFill>
              <a:srgbClr val="CA8A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54680" y="4434840"/>
            <a:ext cx="5897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4544568"/>
            <a:ext cx="64008" cy="877824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4581144"/>
            <a:ext cx="55778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62440"/>
                </a:solidFill>
                <a:latin typeface="Aptos"/>
              </a:rPr>
              <a:t>Resolution outcome</a:t>
            </a:r>
            <a:endParaRPr sz="15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37560" y="5001768"/>
            <a:ext cx="5550408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ptos"/>
              </a:rPr>
              <a:t>Success → validator  |  Failure → “Invalid AT URI” error → DONE</a:t>
            </a:r>
            <a:endParaRPr sz="1300" b="0" i="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175365" cy="1143000"/>
          </a:xfrm>
        </p:spPr>
        <p:txBody>
          <a:bodyPr/>
          <a:p>
            <a:r>
              <a:rPr sz="3200" b="1">
                <a:solidFill>
                  <a:srgbClr val="162440"/>
                </a:solidFill>
                <a:latin typeface="Aptos"/>
                <a:sym typeface="+mn-ea"/>
              </a:rPr>
              <a:t>Step 4: Strict Validation</a:t>
            </a:r>
            <a:br>
              <a:rPr sz="3200" b="1">
                <a:solidFill>
                  <a:srgbClr val="162440"/>
                </a:solidFill>
                <a:latin typeface="Aptos"/>
                <a:sym typeface="+mn-ea"/>
              </a:rPr>
            </a:br>
            <a:r>
              <a:rPr lang="en-US" sz="2000">
                <a:solidFill>
                  <a:srgbClr val="4B5563"/>
                </a:solidFill>
                <a:latin typeface="Aptos"/>
                <a:sym typeface="+mn-ea"/>
              </a:rPr>
              <a:t>V</a:t>
            </a:r>
            <a:r>
              <a:rPr sz="2000">
                <a:solidFill>
                  <a:srgbClr val="4B5563"/>
                </a:solidFill>
                <a:latin typeface="Aptos"/>
                <a:sym typeface="+mn-ea"/>
              </a:rPr>
              <a:t>alidate the complete URI according to the rules your application supports.</a:t>
            </a:r>
            <a:endParaRPr lang="en-US" sz="2000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87451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64008" cy="165506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3154679" cy="13398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Check structure</a:t>
            </a:r>
            <a:endParaRPr sz="16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600">
                <a:solidFill>
                  <a:srgbClr val="1F2937"/>
                </a:solidFill>
                <a:latin typeface="Aptos"/>
                <a:sym typeface="+mn-ea"/>
              </a:rPr>
              <a:t>• Correct scheme
• Present authority
• Valid path shape</a:t>
            </a:r>
            <a:endParaRPr sz="16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74720" cy="1874519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01368"/>
            <a:ext cx="64008" cy="1655063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37944"/>
            <a:ext cx="3154679" cy="13398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Check identifiers</a:t>
            </a:r>
            <a:endParaRPr sz="16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600">
                <a:solidFill>
                  <a:srgbClr val="1F2937"/>
                </a:solidFill>
                <a:latin typeface="Aptos"/>
                <a:sym typeface="+mn-ea"/>
              </a:rPr>
              <a:t>• DID or handle syntax
• Collection NSID
• Record-key constraints</a:t>
            </a:r>
            <a:endParaRPr sz="16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74720" cy="1874519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01368"/>
            <a:ext cx="64008" cy="165506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37944"/>
            <a:ext cx="3154679" cy="13398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Check supported form</a:t>
            </a:r>
            <a:endParaRPr sz="16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600">
                <a:solidFill>
                  <a:srgbClr val="1F2937"/>
                </a:solidFill>
                <a:latin typeface="Aptos"/>
                <a:sym typeface="+mn-ea"/>
              </a:rPr>
              <a:t>• Record URI if required
• Normalization policy
• No malformed segments</a:t>
            </a:r>
            <a:endParaRPr sz="16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19" y="2258568"/>
            <a:ext cx="3127248" cy="3092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endParaRPr sz="130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4572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  <a:latin typeface="Aptos"/>
              </a:rPr>
              <a:t>If valid</a:t>
            </a:r>
            <a:endParaRPr sz="1700" b="1" i="0">
              <a:solidFill>
                <a:srgbClr val="16A34A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4389120"/>
            <a:ext cx="4846320" cy="713232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defRPr sz="1500">
                <a:solidFill>
                  <a:srgbClr val="16A34A"/>
                </a:solidFill>
                <a:latin typeface="Consolas" panose="020B0609020204030204"/>
              </a:defRPr>
            </a:pPr>
            <a:r>
              <a:t>VALIDATION STATUS =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77639"/>
            <a:ext cx="4572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Aptos"/>
              </a:rPr>
              <a:t>If invalid</a:t>
            </a:r>
            <a:endParaRPr sz="1700" b="1" i="0">
              <a:solidFill>
                <a:srgbClr val="DC2626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26480" y="4389120"/>
            <a:ext cx="4846320" cy="713232"/>
          </a:xfrm>
          <a:prstGeom prst="roundRect">
            <a:avLst/>
          </a:prstGeom>
          <a:solidFill>
            <a:srgbClr val="FEE2E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defRPr sz="1500">
                <a:solidFill>
                  <a:srgbClr val="DC2626"/>
                </a:solidFill>
                <a:latin typeface="Consolas" panose="020B0609020204030204"/>
              </a:defRPr>
            </a:pPr>
            <a:r>
              <a:t>Invalid AT URI → DONE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099800" cy="1143000"/>
          </a:xfrm>
        </p:spPr>
        <p:txBody>
          <a:bodyPr/>
          <a:p>
            <a:r>
              <a:rPr lang="en-US" sz="3200" b="1">
                <a:solidFill>
                  <a:srgbClr val="162440"/>
                </a:solidFill>
                <a:latin typeface="Aptos"/>
                <a:sym typeface="+mn-ea"/>
              </a:rPr>
              <a:t>S</a:t>
            </a:r>
            <a:r>
              <a:rPr sz="3200" b="1">
                <a:solidFill>
                  <a:srgbClr val="162440"/>
                </a:solidFill>
                <a:latin typeface="Aptos"/>
                <a:sym typeface="+mn-ea"/>
              </a:rPr>
              <a:t>teps 5–6: Gateway Mapping and Data Retrieval</a:t>
            </a:r>
            <a:br>
              <a:rPr sz="3200" b="1">
                <a:solidFill>
                  <a:srgbClr val="162440"/>
                </a:solidFill>
                <a:latin typeface="Aptos"/>
                <a:sym typeface="+mn-ea"/>
              </a:rPr>
            </a:br>
            <a:r>
              <a:rPr sz="2000">
                <a:solidFill>
                  <a:srgbClr val="4B5563"/>
                </a:solidFill>
                <a:latin typeface="Aptos"/>
                <a:sym typeface="+mn-ea"/>
              </a:rPr>
              <a:t>Translate logical identity into an API request, then validate the returned data.</a:t>
            </a:r>
            <a:endParaRPr lang="en-US" sz="2000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55648"/>
            <a:ext cx="64008" cy="1197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4892040" cy="109410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Gateway mapping</a:t>
            </a:r>
            <a:endParaRPr sz="16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600">
                <a:solidFill>
                  <a:srgbClr val="1F2937"/>
                </a:solidFill>
                <a:latin typeface="Aptos"/>
                <a:sym typeface="+mn-ea"/>
              </a:rPr>
              <a:t>Map DID + collection + record key to the configured HTTP endpoint. This is application-specific.</a:t>
            </a:r>
            <a:endParaRPr sz="16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212080" cy="14173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55648"/>
            <a:ext cx="64008" cy="119786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92224"/>
            <a:ext cx="4892040" cy="109410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HTTP / HTTPS fetch</a:t>
            </a:r>
            <a:endParaRPr sz="1600" b="1" i="0">
              <a:solidFill>
                <a:srgbClr val="162440"/>
              </a:solidFill>
              <a:latin typeface="Aptos"/>
            </a:endParaRPr>
          </a:p>
          <a:p>
            <a:pPr algn="l"/>
            <a:r>
              <a:rPr sz="1600">
                <a:solidFill>
                  <a:srgbClr val="1F2937"/>
                </a:solidFill>
                <a:latin typeface="Aptos"/>
                <a:sym typeface="+mn-ea"/>
              </a:rPr>
              <a:t>Request the record and parse the response as JSON. A successful HTTP status alone is not enough.</a:t>
            </a:r>
            <a:endParaRPr sz="1600" b="0" i="0">
              <a:solidFill>
                <a:srgbClr val="1F2937"/>
              </a:solidFill>
              <a:latin typeface="Aptos"/>
            </a:endParaRPr>
          </a:p>
          <a:p>
            <a:pPr algn="l"/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2359152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474720"/>
            <a:ext cx="4754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Illustrative record metadata</a:t>
            </a:r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3886200"/>
            <a:ext cx="530352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defRPr sz="1200">
                <a:solidFill>
                  <a:srgbClr val="162440"/>
                </a:solidFill>
                <a:latin typeface="Consolas" panose="020B0609020204030204"/>
              </a:defRPr>
            </a:pPr>
            <a:r>
              <a:t>{</a:t>
            </a:r>
            <a:br/>
            <a:r>
              <a:t>  "uri": "at://did:plc:example123/…/abc123",</a:t>
            </a:r>
            <a:br/>
            <a:r>
              <a:t>  "cid": "bafyExampleCid",</a:t>
            </a:r>
            <a:br/>
            <a:r>
              <a:t>  "value": { "text": "Hello!" }</a:t>
            </a:r>
            <a:br/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03320"/>
            <a:ext cx="45720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813048"/>
            <a:ext cx="64008" cy="14264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849624"/>
            <a:ext cx="4251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62440"/>
                </a:solidFill>
                <a:latin typeface="Aptos"/>
              </a:rPr>
              <a:t>Possible retrieval outcomes</a:t>
            </a:r>
            <a:endParaRPr sz="15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4270248"/>
            <a:ext cx="4224528" cy="9875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ptos"/>
              </a:rPr>
              <a:t>Success + valid JSON → rebuild
Not found / access denied → error
Timeout / bad JSON → handle explicitly</a:t>
            </a:r>
            <a:endParaRPr sz="1250" b="0" i="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0998200" cy="1143000"/>
          </a:xfrm>
        </p:spPr>
        <p:txBody>
          <a:bodyPr/>
          <a:p>
            <a:r>
              <a:rPr sz="3200" b="1">
                <a:solidFill>
                  <a:srgbClr val="162440"/>
                </a:solidFill>
                <a:latin typeface="Aptos"/>
                <a:sym typeface="+mn-ea"/>
              </a:rPr>
              <a:t>Steps 7–8: Reconstruct and Compare</a:t>
            </a:r>
            <a:br>
              <a:rPr sz="3200" b="1">
                <a:solidFill>
                  <a:srgbClr val="162440"/>
                </a:solidFill>
                <a:latin typeface="Aptos"/>
                <a:sym typeface="+mn-ea"/>
              </a:rPr>
            </a:br>
            <a:r>
              <a:rPr sz="2000">
                <a:solidFill>
                  <a:srgbClr val="4B5563"/>
                </a:solidFill>
                <a:latin typeface="Aptos"/>
                <a:sym typeface="+mn-ea"/>
              </a:rPr>
              <a:t>Round-trip checking asks whether the pipeline preserved the original URI representation.</a:t>
            </a:r>
            <a:endParaRPr lang="en-US" sz="2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66850"/>
            <a:ext cx="10362565" cy="4659630"/>
          </a:xfrm>
        </p:spPr>
        <p:txBody>
          <a:bodyPr/>
          <a:p>
            <a:pPr marL="0" indent="0">
              <a:buNone/>
            </a:pPr>
            <a:r>
              <a:rPr lang="en-US" b="1">
                <a:solidFill>
                  <a:srgbClr val="162440"/>
                </a:solidFill>
                <a:latin typeface="Aptos"/>
                <a:sym typeface="+mn-ea"/>
              </a:rPr>
              <a:t>O</a:t>
            </a:r>
            <a:r>
              <a:rPr b="1">
                <a:solidFill>
                  <a:srgbClr val="162440"/>
                </a:solidFill>
                <a:latin typeface="Aptos"/>
                <a:sym typeface="+mn-ea"/>
              </a:rPr>
              <a:t>riginal UR</a:t>
            </a:r>
            <a:r>
              <a:rPr lang="en-US" b="1">
                <a:solidFill>
                  <a:srgbClr val="162440"/>
                </a:solidFill>
                <a:latin typeface="Aptos"/>
                <a:sym typeface="+mn-ea"/>
              </a:rPr>
              <a:t>I</a:t>
            </a:r>
            <a:endParaRPr lang="en-US" b="1">
              <a:solidFill>
                <a:srgbClr val="162440"/>
              </a:solidFill>
              <a:latin typeface="Aptos"/>
              <a:sym typeface="+mn-ea"/>
            </a:endParaRPr>
          </a:p>
          <a:p>
            <a:pPr marL="0" indent="0">
              <a:buNone/>
            </a:pPr>
            <a:r>
              <a:rPr lang="en-US" b="1">
                <a:solidFill>
                  <a:srgbClr val="162440"/>
                </a:solidFill>
                <a:latin typeface="Aptos"/>
                <a:sym typeface="+mn-ea"/>
              </a:rPr>
              <a:t> </a:t>
            </a:r>
            <a:r>
              <a:rPr>
                <a:sym typeface="+mn-ea"/>
              </a:rPr>
              <a:t>at://did:plc:example123/app.bsky.feed.post/abc123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 lang="en-US" b="1">
                <a:solidFill>
                  <a:srgbClr val="162440"/>
                </a:solidFill>
                <a:latin typeface="Aptos"/>
                <a:sym typeface="+mn-ea"/>
              </a:rPr>
              <a:t>     </a:t>
            </a:r>
            <a:endParaRPr lang="en-US" b="1">
              <a:solidFill>
                <a:srgbClr val="162440"/>
              </a:solidFill>
              <a:latin typeface="Aptos"/>
              <a:sym typeface="+mn-ea"/>
            </a:endParaRPr>
          </a:p>
          <a:p>
            <a:pPr marL="0" indent="0">
              <a:buNone/>
            </a:pPr>
            <a:r>
              <a:rPr lang="en-US" b="1">
                <a:solidFill>
                  <a:srgbClr val="162440"/>
                </a:solidFill>
                <a:latin typeface="Aptos"/>
                <a:sym typeface="+mn-ea"/>
              </a:rPr>
              <a:t>Rebuilt URI</a:t>
            </a:r>
            <a:endParaRPr lang="en-US" b="1">
              <a:solidFill>
                <a:srgbClr val="162440"/>
              </a:solidFill>
              <a:latin typeface="Aptos"/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at://did:plc:example123/app.bsky.feed.post/abc123</a:t>
            </a:r>
            <a:endParaRPr>
              <a:sym typeface="+mn-ea"/>
            </a:endParaRPr>
          </a:p>
          <a:p>
            <a:endParaRPr lang="en-US" b="1">
              <a:solidFill>
                <a:srgbClr val="162440"/>
              </a:solidFill>
              <a:latin typeface="Aptos"/>
              <a:sym typeface="+mn-e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655" y="4747260"/>
            <a:ext cx="5074920" cy="13258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655" y="4856988"/>
            <a:ext cx="64008" cy="11064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12"/>
          <p:cNvSpPr txBox="1"/>
          <p:nvPr/>
        </p:nvSpPr>
        <p:spPr>
          <a:xfrm>
            <a:off x="978535" y="4893564"/>
            <a:ext cx="47548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Exact match</a:t>
            </a:r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6" name="TextBox 13"/>
          <p:cNvSpPr txBox="1"/>
          <p:nvPr/>
        </p:nvSpPr>
        <p:spPr>
          <a:xfrm>
            <a:off x="978535" y="5314187"/>
            <a:ext cx="4727448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ptos"/>
              </a:rPr>
              <a:t>originalURI === rebuiltURI
Result: OUTPUT: VALID → DONE</a:t>
            </a:r>
            <a:endParaRPr sz="1300" b="0" i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82055" y="4747260"/>
            <a:ext cx="5074920" cy="13258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2055" y="4856988"/>
            <a:ext cx="64008" cy="11064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16"/>
          <p:cNvSpPr txBox="1"/>
          <p:nvPr/>
        </p:nvSpPr>
        <p:spPr>
          <a:xfrm>
            <a:off x="6464935" y="4893564"/>
            <a:ext cx="47548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62440"/>
                </a:solidFill>
                <a:latin typeface="Aptos"/>
              </a:rPr>
              <a:t>Mismatch</a:t>
            </a:r>
            <a:endParaRPr sz="1600" b="1" i="0">
              <a:solidFill>
                <a:srgbClr val="162440"/>
              </a:solidFill>
              <a:latin typeface="Aptos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6464935" y="5314187"/>
            <a:ext cx="4727448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ptos"/>
              </a:rPr>
              <a:t>Different authority, collection, or key
Result: Round-Trip Mismatch → DONE</a:t>
            </a:r>
            <a:endParaRPr sz="1300" b="0" i="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525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1"/>
                </a:solidFill>
                <a:latin typeface="Aptos Display"/>
              </a:defRPr>
            </a:pPr>
            <a:r>
              <a:t>PEP 8, Error Handling &amp;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113066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  <a:latin typeface="Aptos"/>
              </a:defRPr>
            </a:pPr>
            <a:r>
              <a:t>Quality checks applied to the runnable 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ptos"/>
              </a:defRPr>
            </a:pPr>
            <a:r>
              <a:t>PEP 8 / maintainability</a:t>
            </a:r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  <a:latin typeface="Aptos"/>
              </a:defRPr>
            </a:pPr>
            <a:r>
              <a:t>• snake_case function and variable names</a:t>
            </a:r>
            <a:br/>
            <a:r>
              <a:t>• 4-space indentation</a:t>
            </a:r>
            <a:br/>
            <a:r>
              <a:t>• docstrings on public classes and methods</a:t>
            </a:r>
            <a:br/>
            <a:r>
              <a:t>• dataclass for parsed URI fields</a:t>
            </a:r>
            <a:br/>
            <a:r>
              <a:t>• explicit ValueError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0352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ptos"/>
              </a:defRPr>
            </a:pPr>
            <a:r>
              <a:t>Standard library (runtime)</a:t>
            </a:r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  <a:latin typeface="Aptos"/>
              </a:defRPr>
            </a:pPr>
            <a:r>
              <a:t>• urllib.parse — URL inspection</a:t>
            </a:r>
            <a:br/>
            <a:r>
              <a:t>• dataclasses — parsed value object</a:t>
            </a:r>
            <a:br/>
            <a:r>
              <a:t>• typing — type annotations</a:t>
            </a:r>
            <a:br/>
            <a:r>
              <a:t>• unittest — tests</a:t>
            </a:r>
            <a:br/>
            <a:r>
              <a:t>• No third-party runtime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5303520" cy="1554480"/>
          </a:xfrm>
          <a:prstGeom prst="roundRect">
            <a:avLst/>
          </a:prstGeom>
          <a:solidFill>
            <a:srgbClr val="F0FDF4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defRPr sz="1600" b="1">
                <a:solidFill>
                  <a:srgbClr val="166534"/>
                </a:solidFill>
                <a:latin typeface="Aptos"/>
              </a:defRPr>
            </a:pPr>
            <a:r>
              <a:t>Third-party dependencies</a:t>
            </a:r>
          </a:p>
          <a:p>
            <a:pPr>
              <a:spcBef>
                <a:spcPts val="600"/>
              </a:spcBef>
              <a:defRPr sz="1400">
                <a:solidFill>
                  <a:srgbClr val="1F2937"/>
                </a:solidFill>
                <a:latin typeface="Aptos"/>
              </a:defRPr>
            </a:pPr>
            <a:r>
              <a:t>None required to run at_uri_validator.py or its tests. python-pptx was used only to update the PowerPoint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703320"/>
            <a:ext cx="5303520" cy="1554480"/>
          </a:xfrm>
          <a:prstGeom prst="round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defRPr sz="1600" b="1">
                <a:solidFill>
                  <a:srgbClr val="A16207"/>
                </a:solidFill>
                <a:latin typeface="Aptos"/>
              </a:defRPr>
            </a:pPr>
            <a:r>
              <a:t>Explicit exceptions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Aptos"/>
              </a:defRPr>
            </a:pPr>
            <a:r>
              <a:t>Parser rejects invalid inputs with ValueError; the test runner catches that expected validation error. FileNotFoundError and ConnectionError are not applicable to the current code because it does not read files or make network calls.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525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541"/>
                </a:solidFill>
                <a:latin typeface="Aptos Display"/>
              </a:defRPr>
            </a:pPr>
            <a:r>
              <a:t>Test Matrix: Exact Input and Actual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113066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  <a:latin typeface="Aptos"/>
              </a:defRPr>
            </a:pPr>
            <a:r>
              <a:t>Representative automated cases; full matrix is provided as a separate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417320" cy="384048"/>
          </a:xfrm>
          <a:prstGeom prst="rect">
            <a:avLst/>
          </a:prstGeom>
          <a:solidFill>
            <a:srgbClr val="1625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353312"/>
            <a:ext cx="3657600" cy="384048"/>
          </a:xfrm>
          <a:prstGeom prst="rect">
            <a:avLst/>
          </a:prstGeom>
          <a:solidFill>
            <a:srgbClr val="1625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EXACT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353312"/>
            <a:ext cx="3931920" cy="384048"/>
          </a:xfrm>
          <a:prstGeom prst="rect">
            <a:avLst/>
          </a:prstGeom>
          <a:solidFill>
            <a:srgbClr val="1625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EXPECTED / ACTUAL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9829800" y="1353312"/>
            <a:ext cx="1143000" cy="384048"/>
          </a:xfrm>
          <a:prstGeom prst="rect">
            <a:avLst/>
          </a:prstGeom>
          <a:solidFill>
            <a:srgbClr val="1625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141732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TC01 Valid handle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737360"/>
            <a:ext cx="365760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at://alice.example.com/app.bsky.feed.post/abc123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737360"/>
            <a:ext cx="393192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Parsed authority, collection,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737360"/>
            <a:ext cx="114300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58568"/>
            <a:ext cx="1417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TC02 Valid DID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258568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at://did:plc:example123/app.bsky.feed.post/abc123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258568"/>
            <a:ext cx="39319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DID authority preserved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800" y="2258568"/>
            <a:ext cx="11430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79776"/>
            <a:ext cx="141732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TC03 Missing scheme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779776"/>
            <a:ext cx="365760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alice.example.com/app.bsky.feed.post/abc123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779776"/>
            <a:ext cx="393192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ValueError: Invalid scheme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779776"/>
            <a:ext cx="114300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00984"/>
            <a:ext cx="1417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TC04 Empty authority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3300984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at://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300984"/>
            <a:ext cx="39319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ValueError: Authority segment cannot be empty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3300984"/>
            <a:ext cx="11430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22191"/>
            <a:ext cx="141732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TC05 Trailing slash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3822191"/>
            <a:ext cx="365760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at://alice.example.com/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822191"/>
            <a:ext cx="393192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ValueError: empty/trailing path segment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3822191"/>
            <a:ext cx="114300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343400"/>
            <a:ext cx="1417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TC06 Too many segments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4343400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at://alice.example.com/a.b.c/key/extra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4343400"/>
            <a:ext cx="39319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ValueError: too many path segments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4343400"/>
            <a:ext cx="11430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864608"/>
            <a:ext cx="141732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TC07 Bad authority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4864608"/>
            <a:ext cx="365760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at://not-a-handle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864608"/>
            <a:ext cx="393192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ValueError: handle must contain a dot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29800" y="4864608"/>
            <a:ext cx="1143000" cy="52120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385816"/>
            <a:ext cx="1417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TC08 Round-trip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5385816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at://did:plc:example123/app.bsky.feed.post/abc123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5385816"/>
            <a:ext cx="39319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900" b="0">
                <a:solidFill>
                  <a:srgbClr val="1F2937"/>
                </a:solidFill>
                <a:latin typeface="Aptos"/>
              </a:defRPr>
            </a:pPr>
            <a:r>
              <a:t>Restored string equals original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9800" y="5385816"/>
            <a:ext cx="11430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45720" rtlCol="0" anchor="ctr"/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Conclusion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0819765" cy="45262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AT Protocol enables an open ecosystem for social applications.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AT URIs provide identifiers for protocol records.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/>
              </a:rPr>
              <a:t>Our validator aims to make AT URI parsing, mapping and round-trip compatibility more reliable.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800">
                <a:solidFill>
                  <a:schemeClr val="tx1"/>
                </a:solidFill>
                <a:latin typeface="Aptos"/>
                <a:sym typeface="+mn-ea"/>
              </a:rPr>
              <a:t>Takeaway: parsing checks the form; resolution checks identity; retrieval checks availability; round-trip comparison checks representation fidelity.</a:t>
            </a:r>
            <a:endParaRPr sz="2800" i="0">
              <a:solidFill>
                <a:schemeClr val="tx1"/>
              </a:solidFill>
              <a:latin typeface="Apto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2800" i="0" u="none" strike="noStrike" kern="1200" cap="none" spc="0" baseline="0">
              <a:solidFill>
                <a:schemeClr val="tx1"/>
              </a:solidFill>
              <a:latin typeface="Aptos"/>
              <a:ea typeface="SimSun" panose="02010600030101010101" pitchFamily="2" charset="-122"/>
              <a:cs typeface="Lucida Sans" panose="020B0602030504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0</TotalTime>
  <Words>7133</Words>
  <Application>WPS Presentation</Application>
  <PresentationFormat/>
  <Paragraphs>321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Droid Sans</vt:lpstr>
      <vt:lpstr>Segoe Print</vt:lpstr>
      <vt:lpstr>Calibri</vt:lpstr>
      <vt:lpstr>Lucida Sans</vt:lpstr>
      <vt:lpstr>Aptos</vt:lpstr>
      <vt:lpstr>Segoe UI</vt:lpstr>
      <vt:lpstr>Consolas</vt:lpstr>
      <vt:lpstr>Aptos Display</vt:lpstr>
      <vt:lpstr>Segoe UI Variable Display</vt:lpstr>
      <vt:lpstr>Microsoft YaHei</vt:lpstr>
      <vt:lpstr>Arial Unicode MS</vt:lpstr>
      <vt:lpstr>Office Theme</vt:lpstr>
      <vt:lpstr>  A3-PS026-TC166 AT URI Syntax Compatibility and Round-Trip Validator  nalini200878@gmail.com AIORI HACKATHON 3 October 13,2026 </vt:lpstr>
      <vt:lpstr>PowerPoint 演示文稿</vt:lpstr>
      <vt:lpstr>  Introduction</vt:lpstr>
      <vt:lpstr>Why Do We Use AT Protocol?</vt:lpstr>
      <vt:lpstr>How Does AT Protocol Work?</vt:lpstr>
      <vt:lpstr>AT Protocol</vt:lpstr>
      <vt:lpstr>Problem Description-PS-026</vt:lpstr>
      <vt:lpstr>Goal and Core Ideas </vt:lpstr>
      <vt:lpstr>PowerPoint 演示文稿</vt:lpstr>
      <vt:lpstr>Steps 1–2: Scheme Check and Parsing</vt:lpstr>
      <vt:lpstr>Step 3: DID vs Handle Resolution The authority type determines whether an additional identity lookup is required.</vt:lpstr>
      <vt:lpstr>Step 4: Strict Validation Validate the complete URI according to the rules your application supports.</vt:lpstr>
      <vt:lpstr>Steps 5–6: Gateway Mapping and Data Retrieval Translate logical identity into an API request, then validate the returned data.</vt:lpstr>
      <vt:lpstr>Steps 7–8: Reconstruct and Compare Round-trip checking asks whether the pipeline preserved the original URI representation.</vt:lpstr>
      <vt:lpstr>PowerPoint 演示文稿</vt:lpstr>
      <vt:lpstr>PowerPoint 演示文稿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DELL</cp:lastModifiedBy>
  <cp:revision>5</cp:revision>
  <dcterms:created xsi:type="dcterms:W3CDTF">2013-01-27T09:14:00Z</dcterms:created>
  <dcterms:modified xsi:type="dcterms:W3CDTF">2026-10-13T17:56:41Z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E31288A91A774B89B2010B6E239F4E9C_13</vt:lpwstr>
  </property>
</Properties>
</file>